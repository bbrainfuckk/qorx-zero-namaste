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5d19b6939da40df" /><Relationship Type="http://schemas.openxmlformats.org/officeDocument/2006/relationships/extended-properties" Target="/docProps/app.xml" Id="Rdb1ad95d16e6443a" /><Relationship Type="http://schemas.openxmlformats.org/officeDocument/2006/relationships/officeDocument" Target="/ppt/presentation.xml" Id="R697478c6d6f940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4b3104830784d3b"/>
  </p:sldMasterIdLst>
  <p:notesMasterIdLst>
    <p:notesMasterId xmlns:r="http://schemas.openxmlformats.org/officeDocument/2006/relationships" r:id="Rae26349c2216475a"/>
  </p:notesMasterIdLst>
  <p:sldIdLst>
    <p:sldId xmlns:r="http://schemas.openxmlformats.org/officeDocument/2006/relationships" id="256" r:id="R4c8f3f6c897f4357"/>
    <p:sldId xmlns:r="http://schemas.openxmlformats.org/officeDocument/2006/relationships" id="257" r:id="Rd8d85589cdf543a9"/>
    <p:sldId xmlns:r="http://schemas.openxmlformats.org/officeDocument/2006/relationships" id="258" r:id="R5bf52e5855214710"/>
    <p:sldId xmlns:r="http://schemas.openxmlformats.org/officeDocument/2006/relationships" id="259" r:id="R1b37195d41e943da"/>
    <p:sldId xmlns:r="http://schemas.openxmlformats.org/officeDocument/2006/relationships" id="260" r:id="R0872bd9fac2f4dca"/>
    <p:sldId xmlns:r="http://schemas.openxmlformats.org/officeDocument/2006/relationships" id="261" r:id="R6e0174e72b27457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a8b13abb8b94e96" /><Relationship Type="http://schemas.openxmlformats.org/officeDocument/2006/relationships/slideMaster" Target="/ppt/slideMasters/slideMaster1.xml" Id="R64b3104830784d3b" /><Relationship Type="http://schemas.openxmlformats.org/officeDocument/2006/relationships/notesMaster" Target="/ppt/notesMasters/notesMaster1.xml" Id="Rae26349c2216475a" /><Relationship Type="http://schemas.openxmlformats.org/officeDocument/2006/relationships/presProps" Target="/ppt/presProps.xml" Id="R0f61db1075e84940" /><Relationship Type="http://schemas.openxmlformats.org/officeDocument/2006/relationships/tableStyles" Target="/ppt/tableStyles.xml" Id="R90872c9d2237466f" /><Relationship Type="http://schemas.openxmlformats.org/officeDocument/2006/relationships/slide" Target="/ppt/slides/slide1.xml" Id="R4c8f3f6c897f4357" /><Relationship Type="http://schemas.openxmlformats.org/officeDocument/2006/relationships/slide" Target="/ppt/slides/slide2.xml" Id="Rd8d85589cdf543a9" /><Relationship Type="http://schemas.openxmlformats.org/officeDocument/2006/relationships/slide" Target="/ppt/slides/slide3.xml" Id="R5bf52e5855214710" /><Relationship Type="http://schemas.openxmlformats.org/officeDocument/2006/relationships/slide" Target="/ppt/slides/slide4.xml" Id="R1b37195d41e943da" /><Relationship Type="http://schemas.openxmlformats.org/officeDocument/2006/relationships/slide" Target="/ppt/slides/slide5.xml" Id="R0872bd9fac2f4dca" /><Relationship Type="http://schemas.openxmlformats.org/officeDocument/2006/relationships/slide" Target="/ppt/slides/slide6.xml" Id="R6e0174e72b2745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0ba478bd90b429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349eadad99f45ae" /><Relationship Type="http://schemas.openxmlformats.org/officeDocument/2006/relationships/notesMaster" Target="/ppt/notesMasters/notesMaster1.xml" Id="R28c584a8ae1547e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31289509e264411" /><Relationship Type="http://schemas.openxmlformats.org/officeDocument/2006/relationships/notesMaster" Target="/ppt/notesMasters/notesMaster1.xml" Id="R52d76953f7f842d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a0a81be800d46f5" /><Relationship Type="http://schemas.openxmlformats.org/officeDocument/2006/relationships/notesMaster" Target="/ppt/notesMasters/notesMaster1.xml" Id="Ra2c7f47d8351491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267e3f03ed94e0c" /><Relationship Type="http://schemas.openxmlformats.org/officeDocument/2006/relationships/notesMaster" Target="/ppt/notesMasters/notesMaster1.xml" Id="R147929dd75e2400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9684698dbac4830" /><Relationship Type="http://schemas.openxmlformats.org/officeDocument/2006/relationships/notesMaster" Target="/ppt/notesMasters/notesMaster1.xml" Id="Rb97d0c974712466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32b6a7bded04f75" /><Relationship Type="http://schemas.openxmlformats.org/officeDocument/2006/relationships/notesMaster" Target="/ppt/notesMasters/notesMaster1.xml" Id="R8a51a8d23af14e1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8e18ca5f6048c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737e073e17e41d1" /><Relationship Type="http://schemas.openxmlformats.org/officeDocument/2006/relationships/slideLayout" Target="/ppt/slideLayouts/slideLayout1.xml" Id="R0cd9bd6b5a454c8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cd9bd6b5a454c8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af2e86f0ad4d0c" /><Relationship Type="http://schemas.openxmlformats.org/officeDocument/2006/relationships/image" Target="/ppt/media/image.png" Id="R9591492052a241f8" /><Relationship Type="http://schemas.openxmlformats.org/officeDocument/2006/relationships/notesSlide" Target="/ppt/notesSlides/notesSlide1.xml" Id="R0fc4ed45d5794bf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46e49f37d54475" /><Relationship Type="http://schemas.openxmlformats.org/officeDocument/2006/relationships/notesSlide" Target="/ppt/notesSlides/notesSlide2.xml" Id="Rcf4379dd3d32482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dca48502d9478c" /><Relationship Type="http://schemas.openxmlformats.org/officeDocument/2006/relationships/notesSlide" Target="/ppt/notesSlides/notesSlide3.xml" Id="R5669bb4d5766436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f0f311cdf545fa" /><Relationship Type="http://schemas.openxmlformats.org/officeDocument/2006/relationships/notesSlide" Target="/ppt/notesSlides/notesSlide4.xml" Id="Ra382744e10124ac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11df8c6c51400e" /><Relationship Type="http://schemas.openxmlformats.org/officeDocument/2006/relationships/notesSlide" Target="/ppt/notesSlides/notesSlide5.xml" Id="R250571b88014400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e740286bf94262" /><Relationship Type="http://schemas.openxmlformats.org/officeDocument/2006/relationships/notesSlide" Target="/ppt/notesSlides/notesSlide6.xml" Id="R974200e38a94476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91492052a241f8"/>
          <a:srcRect xmlns:a="http://schemas.openxmlformats.org/drawingml/2006/main" l="25378" t="0" r="253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0"/>
            <a:ext cx="6000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mark-bg">
            <a:extLst xmlns:a="http://schemas.openxmlformats.org/drawingml/2006/main">
              <a:ext uri="{FF2B5EF4-FFF2-40B4-BE49-F238E27FC236}">
                <a16:creationId xmlns:a16="http://schemas.microsoft.com/office/drawing/2014/main" id="{FA0C45A9-A4AC-4D9E-9728-44902910E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6477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1130F"/>
          </a:solidFill>
          <a:ln xmlns:a="http://schemas.openxmlformats.org/drawingml/2006/main" w="9525">
            <a:solidFill>
              <a:srgbClr val="11130F"/>
            </a:solidFill>
            <a:prstDash val="solid"/>
          </a:ln>
        </p:spPr>
      </p:sp>
      <p:sp>
        <p:nvSpPr>
          <p:cNvPr id="3" name="mark">
            <a:extLst xmlns:a="http://schemas.openxmlformats.org/drawingml/2006/main">
              <a:ext uri="{FF2B5EF4-FFF2-40B4-BE49-F238E27FC236}">
                <a16:creationId xmlns:a16="http://schemas.microsoft.com/office/drawing/2014/main" id="{7FFF3C9D-6E95-496A-9353-DE27A6A1F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647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7FF42"/>
                </a:solidFill>
              </a:defRPr>
            </a:pPr>
            <a:r>
              <a:rPr sz="1800" b="1">
                <a:solidFill>
                  <a:srgbClr val="C7FF42"/>
                </a:solidFill>
              </a:rPr>
              <a:t>Q0</a:t>
            </a:r>
          </a:p>
        </p:txBody>
      </p:sp>
      <p:sp>
        <p:nvSpPr>
          <p:cNvPr id="4" name="product">
            <a:extLst xmlns:a="http://schemas.openxmlformats.org/drawingml/2006/main">
              <a:ext uri="{FF2B5EF4-FFF2-40B4-BE49-F238E27FC236}">
                <a16:creationId xmlns:a16="http://schemas.microsoft.com/office/drawing/2014/main" id="{B3A7F373-B2AC-4FF4-9029-6BBDAAE5C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495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11130F"/>
                </a:solidFill>
              </a:defRPr>
            </a:pPr>
            <a:r>
              <a:rPr sz="6150" b="1">
                <a:solidFill>
                  <a:srgbClr val="11130F"/>
                </a:solidFill>
              </a:rPr>
              <a:t>Qorx Zero</a:t>
            </a:r>
          </a:p>
        </p:txBody>
      </p:sp>
      <p:sp>
        <p:nvSpPr>
          <p:cNvPr id="5" name="promise">
            <a:extLst xmlns:a="http://schemas.openxmlformats.org/drawingml/2006/main">
              <a:ext uri="{FF2B5EF4-FFF2-40B4-BE49-F238E27FC236}">
                <a16:creationId xmlns:a16="http://schemas.microsoft.com/office/drawing/2014/main" id="{3A6B6609-045D-4A9C-BFBA-94CD2F235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86050"/>
            <a:ext cx="47625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30F"/>
                </a:solidFill>
              </a:defRPr>
            </a:pPr>
            <a:r>
              <a:rPr sz="3600" b="1">
                <a:solidFill>
                  <a:srgbClr val="11130F"/>
                </a:solidFill>
              </a:rPr>
              <a:t>Memory that stays</a:t>
            </a:r>
          </a:p>
          <a:p xmlns:a="http://schemas.openxmlformats.org/drawingml/2006/main">
            <a:pPr algn="l">
              <a:defRPr sz="3600" b="1">
                <a:solidFill>
                  <a:srgbClr val="11130F"/>
                </a:solidFill>
              </a:defRPr>
            </a:pPr>
            <a:r>
              <a:rPr sz="3600" b="1">
                <a:solidFill>
                  <a:srgbClr val="11130F"/>
                </a:solidFill>
              </a:rPr>
              <a:t>with the work.</a:t>
            </a:r>
          </a:p>
        </p:txBody>
      </p:sp>
      <p:sp>
        <p:nvSpPr>
          <p:cNvPr id="6" name="line">
            <a:extLst xmlns:a="http://schemas.openxmlformats.org/drawingml/2006/main">
              <a:ext uri="{FF2B5EF4-FFF2-40B4-BE49-F238E27FC236}">
                <a16:creationId xmlns:a16="http://schemas.microsoft.com/office/drawing/2014/main" id="{23D541B4-1CC7-4DBE-A092-2BDEEA3E1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673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5675F"/>
                </a:solidFill>
              </a:defRPr>
            </a:pPr>
            <a:r>
              <a:rPr sz="1800" b="0">
                <a:solidFill>
                  <a:srgbClr val="65675F"/>
                </a:solidFill>
              </a:rPr>
              <a:t>Keep the memory. Send the proof.</a:t>
            </a:r>
          </a:p>
        </p:txBody>
      </p:sp>
      <p:sp>
        <p:nvSpPr>
          <p:cNvPr id="7" name="events">
            <a:extLst xmlns:a="http://schemas.openxmlformats.org/drawingml/2006/main">
              <a:ext uri="{FF2B5EF4-FFF2-40B4-BE49-F238E27FC236}">
                <a16:creationId xmlns:a16="http://schemas.microsoft.com/office/drawing/2014/main" id="{885704D4-6739-40DA-8667-CC025B30E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675F"/>
                </a:solidFill>
              </a:defRPr>
            </a:pPr>
            <a:r>
              <a:rPr sz="1200" b="1">
                <a:solidFill>
                  <a:srgbClr val="65675F"/>
                </a:solidFill>
              </a:rPr>
              <a:t>NAMASTEDEV · QWEN CLOUD · OPENAI BUILD WEEK</a:t>
            </a:r>
          </a:p>
        </p:txBody>
      </p:sp>
    </p:spTree>
    <p:extLst>
      <p:ext uri="{BB962C8B-B14F-4D97-AF65-F5344CB8AC3E}">
        <p14:creationId xmlns:p14="http://schemas.microsoft.com/office/powerpoint/2010/main" val="2204052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">
            <a:extLst xmlns:a="http://schemas.openxmlformats.org/drawingml/2006/main">
              <a:ext uri="{FF2B5EF4-FFF2-40B4-BE49-F238E27FC236}">
                <a16:creationId xmlns:a16="http://schemas.microsoft.com/office/drawing/2014/main" id="{672E89DF-73E4-4D0A-92E1-0C92EDC8A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9906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1130F"/>
                </a:solidFill>
              </a:defRPr>
            </a:pPr>
            <a:r>
              <a:rPr sz="3900" b="1">
                <a:solidFill>
                  <a:srgbClr val="11130F"/>
                </a:solidFill>
              </a:rPr>
              <a:t>Project memory has two bad homes.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3C62CAE-B18D-4B0B-9B0C-EDC881D23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5675F"/>
                </a:solidFill>
              </a:defRPr>
            </a:pPr>
            <a:r>
              <a:rPr sz="1800" b="0">
                <a:solidFill>
                  <a:srgbClr val="65675F"/>
                </a:solidFill>
              </a:rPr>
              <a:t>Teams either resend everything or surrender everything.</a:t>
            </a:r>
          </a:p>
        </p:txBody>
      </p:sp>
      <p:sp>
        <p:nvSpPr>
          <p:cNvPr id="3" name="problem-card">
            <a:extLst xmlns:a="http://schemas.openxmlformats.org/drawingml/2006/main">
              <a:ext uri="{FF2B5EF4-FFF2-40B4-BE49-F238E27FC236}">
                <a16:creationId xmlns:a16="http://schemas.microsoft.com/office/drawing/2014/main" id="{49BB61FF-3FC6-4EAF-ACEB-FEDEF5D07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62500" cy="27813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FFFEF9"/>
          </a:solidFill>
          <a:ln xmlns:a="http://schemas.openxmlformats.org/drawingml/2006/main" w="9525">
            <a:solidFill>
              <a:srgbClr val="C9C4B9"/>
            </a:solidFill>
            <a:prstDash val="solid"/>
          </a:ln>
        </p:spPr>
      </p:sp>
      <p:sp>
        <p:nvSpPr>
          <p:cNvPr id="4" name="number">
            <a:extLst xmlns:a="http://schemas.openxmlformats.org/drawingml/2006/main">
              <a:ext uri="{FF2B5EF4-FFF2-40B4-BE49-F238E27FC236}">
                <a16:creationId xmlns:a16="http://schemas.microsoft.com/office/drawing/2014/main" id="{7EF9A0B6-80EF-4A8F-87D8-77A98C858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241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5675F"/>
                </a:solidFill>
              </a:defRPr>
            </a:pPr>
            <a:r>
              <a:rPr sz="1500" b="1">
                <a:solidFill>
                  <a:srgbClr val="65675F"/>
                </a:solidFill>
              </a:rPr>
              <a:t>01</a:t>
            </a:r>
          </a:p>
        </p:txBody>
      </p:sp>
      <p:sp>
        <p:nvSpPr>
          <p:cNvPr id="5" name="card-title">
            <a:extLst xmlns:a="http://schemas.openxmlformats.org/drawingml/2006/main">
              <a:ext uri="{FF2B5EF4-FFF2-40B4-BE49-F238E27FC236}">
                <a16:creationId xmlns:a16="http://schemas.microsoft.com/office/drawing/2014/main" id="{3E3EA48C-663D-4E6B-B284-BD6BA911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76600"/>
            <a:ext cx="400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30F"/>
                </a:solidFill>
              </a:defRPr>
            </a:pPr>
            <a:r>
              <a:rPr sz="2550" b="1">
                <a:solidFill>
                  <a:srgbClr val="11130F"/>
                </a:solidFill>
              </a:rPr>
              <a:t>Repeat the whole context</a:t>
            </a:r>
          </a:p>
        </p:txBody>
      </p:sp>
      <p:sp>
        <p:nvSpPr>
          <p:cNvPr id="6" name="card-body">
            <a:extLst xmlns:a="http://schemas.openxmlformats.org/drawingml/2006/main">
              <a:ext uri="{FF2B5EF4-FFF2-40B4-BE49-F238E27FC236}">
                <a16:creationId xmlns:a16="http://schemas.microsoft.com/office/drawing/2014/main" id="{ED9DCA7F-A795-43B2-A2A7-28BC4C771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38600"/>
            <a:ext cx="400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675F"/>
                </a:solidFill>
              </a:defRPr>
            </a:pPr>
            <a:r>
              <a:rPr sz="1650" b="0">
                <a:solidFill>
                  <a:srgbClr val="65675F"/>
                </a:solidFill>
              </a:rPr>
              <a:t>Slow sessions. Repeated input.</a:t>
            </a:r>
          </a:p>
          <a:p xmlns:a="http://schemas.openxmlformats.org/drawingml/2006/main">
            <a:pPr algn="l">
              <a:defRPr sz="1650" b="0">
                <a:solidFill>
                  <a:srgbClr val="65675F"/>
                </a:solidFill>
              </a:defRPr>
            </a:pPr>
            <a:r>
              <a:rPr sz="1650" b="0">
                <a:solidFill>
                  <a:srgbClr val="65675F"/>
                </a:solidFill>
              </a:rPr>
              <a:t>Unrelated work travels too.</a:t>
            </a:r>
          </a:p>
        </p:txBody>
      </p:sp>
      <p:sp>
        <p:nvSpPr>
          <p:cNvPr id="7" name="problem-card">
            <a:extLst xmlns:a="http://schemas.openxmlformats.org/drawingml/2006/main">
              <a:ext uri="{FF2B5EF4-FFF2-40B4-BE49-F238E27FC236}">
                <a16:creationId xmlns:a16="http://schemas.microsoft.com/office/drawing/2014/main" id="{EB7A85D3-DFC3-4725-9E23-DF5A774FD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476500"/>
            <a:ext cx="4762500" cy="27813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11130F"/>
          </a:solidFill>
          <a:ln xmlns:a="http://schemas.openxmlformats.org/drawingml/2006/main" w="9525">
            <a:solidFill>
              <a:srgbClr val="11130F"/>
            </a:solidFill>
            <a:prstDash val="solid"/>
          </a:ln>
        </p:spPr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73374890-3778-4EFA-8386-0A5649BEA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7241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7FF42"/>
                </a:solidFill>
              </a:defRPr>
            </a:pPr>
            <a:r>
              <a:rPr sz="1500" b="1">
                <a:solidFill>
                  <a:srgbClr val="C7FF42"/>
                </a:solidFill>
              </a:rPr>
              <a:t>02</a:t>
            </a:r>
          </a:p>
        </p:txBody>
      </p:sp>
      <p:sp>
        <p:nvSpPr>
          <p:cNvPr id="9" name="card-title">
            <a:extLst xmlns:a="http://schemas.openxmlformats.org/drawingml/2006/main">
              <a:ext uri="{FF2B5EF4-FFF2-40B4-BE49-F238E27FC236}">
                <a16:creationId xmlns:a16="http://schemas.microsoft.com/office/drawing/2014/main" id="{FF3DD752-6B89-4290-9615-06471C389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276600"/>
            <a:ext cx="400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EF9"/>
                </a:solidFill>
              </a:defRPr>
            </a:pPr>
            <a:r>
              <a:rPr sz="2550" b="1">
                <a:solidFill>
                  <a:srgbClr val="FFFEF9"/>
                </a:solidFill>
              </a:rPr>
              <a:t>Upload the whole memory</a:t>
            </a:r>
          </a:p>
        </p:txBody>
      </p:sp>
      <p:sp>
        <p:nvSpPr>
          <p:cNvPr id="10" name="card-body">
            <a:extLst xmlns:a="http://schemas.openxmlformats.org/drawingml/2006/main">
              <a:ext uri="{FF2B5EF4-FFF2-40B4-BE49-F238E27FC236}">
                <a16:creationId xmlns:a16="http://schemas.microsoft.com/office/drawing/2014/main" id="{FBC97FB9-9604-412F-ABD0-07D11F0A0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038600"/>
            <a:ext cx="400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6E0D5"/>
                </a:solidFill>
              </a:defRPr>
            </a:pPr>
            <a:r>
              <a:rPr sz="1650" b="0">
                <a:solidFill>
                  <a:srgbClr val="E6E0D5"/>
                </a:solidFill>
              </a:rPr>
              <a:t>Convenient—but the complete store</a:t>
            </a:r>
          </a:p>
          <a:p xmlns:a="http://schemas.openxmlformats.org/drawingml/2006/main">
            <a:pPr algn="l">
              <a:defRPr sz="1650" b="0">
                <a:solidFill>
                  <a:srgbClr val="E6E0D5"/>
                </a:solidFill>
              </a:defRPr>
            </a:pPr>
            <a:r>
              <a:rPr sz="1650" b="0">
                <a:solidFill>
                  <a:srgbClr val="E6E0D5"/>
                </a:solidFill>
              </a:rPr>
              <a:t>now lives beyond the device.</a:t>
            </a:r>
          </a:p>
        </p:txBody>
      </p:sp>
      <p:sp>
        <p:nvSpPr>
          <p:cNvPr id="11" name="answer">
            <a:extLst xmlns:a="http://schemas.openxmlformats.org/drawingml/2006/main">
              <a:ext uri="{FF2B5EF4-FFF2-40B4-BE49-F238E27FC236}">
                <a16:creationId xmlns:a16="http://schemas.microsoft.com/office/drawing/2014/main" id="{02CAA5FF-FEE7-4897-A2E6-B1CDE49B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53000"/>
            <a:ext cx="3238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C7FF42"/>
          </a:solidFill>
          <a:ln xmlns:a="http://schemas.openxmlformats.org/drawingml/2006/main" w="9525">
            <a:solidFill>
              <a:srgbClr val="C7FF42"/>
            </a:solidFill>
            <a:prstDash val="solid"/>
          </a:ln>
        </p:spPr>
      </p:sp>
      <p:sp>
        <p:nvSpPr>
          <p:cNvPr id="12" name="answer-text">
            <a:extLst xmlns:a="http://schemas.openxmlformats.org/drawingml/2006/main">
              <a:ext uri="{FF2B5EF4-FFF2-40B4-BE49-F238E27FC236}">
                <a16:creationId xmlns:a16="http://schemas.microsoft.com/office/drawing/2014/main" id="{67B5BC11-DAC3-46BF-973F-F6816E047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10540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30F"/>
                </a:solidFill>
              </a:defRPr>
            </a:pPr>
            <a:r>
              <a:rPr sz="2025" b="1">
                <a:solidFill>
                  <a:srgbClr val="11130F"/>
                </a:solidFill>
              </a:rPr>
              <a:t>Qorx Zero creates</a:t>
            </a:r>
          </a:p>
          <a:p xmlns:a="http://schemas.openxmlformats.org/drawingml/2006/main">
            <a:pPr algn="l">
              <a:defRPr sz="2025" b="1">
                <a:solidFill>
                  <a:srgbClr val="11130F"/>
                </a:solidFill>
              </a:defRPr>
            </a:pPr>
            <a:r>
              <a:rPr sz="2025" b="1">
                <a:solidFill>
                  <a:srgbClr val="11130F"/>
                </a:solidFill>
              </a:rPr>
              <a:t>a third home.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CE30F112-A6CC-4DFF-945E-C8B96CF1A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675F"/>
                </a:solidFill>
              </a:defRPr>
            </a:pPr>
            <a:r>
              <a:rPr sz="1200" b="1">
                <a:solidFill>
                  <a:srgbClr val="65675F"/>
                </a:solidFill>
              </a:rPr>
              <a:t>QORX ZERO · HACKATHON EDITION</a:t>
            </a:r>
          </a:p>
        </p:txBody>
      </p:sp>
      <p:sp>
        <p:nvSpPr>
          <p:cNvPr id="14" name="page">
            <a:extLst xmlns:a="http://schemas.openxmlformats.org/drawingml/2006/main">
              <a:ext uri="{FF2B5EF4-FFF2-40B4-BE49-F238E27FC236}">
                <a16:creationId xmlns:a16="http://schemas.microsoft.com/office/drawing/2014/main" id="{B8EBB0A0-4F2E-48DD-ADB8-20F8E2405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5675F"/>
                </a:solidFill>
              </a:defRPr>
            </a:pPr>
            <a:r>
              <a:rPr sz="1200" b="1">
                <a:solidFill>
                  <a:srgbClr val="65675F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270154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1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itle">
            <a:extLst xmlns:a="http://schemas.openxmlformats.org/drawingml/2006/main">
              <a:ext uri="{FF2B5EF4-FFF2-40B4-BE49-F238E27FC236}">
                <a16:creationId xmlns:a16="http://schemas.microsoft.com/office/drawing/2014/main" id="{2C3BE37B-1E5F-4BCA-BF04-076A9E6D3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9906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EF9"/>
                </a:solidFill>
              </a:defRPr>
            </a:pPr>
            <a:r>
              <a:rPr sz="3900" b="1">
                <a:solidFill>
                  <a:srgbClr val="FFFEF9"/>
                </a:solidFill>
              </a:rPr>
              <a:t>The model sees one proof frame,</a:t>
            </a:r>
          </a:p>
          <a:p xmlns:a="http://schemas.openxmlformats.org/drawingml/2006/main">
            <a:pPr algn="l">
              <a:defRPr sz="3900" b="1">
                <a:solidFill>
                  <a:srgbClr val="FFFEF9"/>
                </a:solidFill>
              </a:defRPr>
            </a:pPr>
            <a:r>
              <a:rPr sz="3900" b="1">
                <a:solidFill>
                  <a:srgbClr val="FFFEF9"/>
                </a:solidFill>
              </a:rPr>
              <a:t>not the whole archive.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E16965F-2B55-4F66-969A-7E9B20FC0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6E0D5"/>
                </a:solidFill>
              </a:defRPr>
            </a:pPr>
            <a:r>
              <a:rPr sz="1800" b="0">
                <a:solidFill>
                  <a:srgbClr val="E6E0D5"/>
                </a:solidFill>
              </a:rPr>
              <a:t>Every step is visible in the product.</a:t>
            </a:r>
          </a:p>
        </p:txBody>
      </p:sp>
      <p:sp>
        <p:nvSpPr>
          <p:cNvPr id="3" name="flow-0">
            <a:extLst xmlns:a="http://schemas.openxmlformats.org/drawingml/2006/main">
              <a:ext uri="{FF2B5EF4-FFF2-40B4-BE49-F238E27FC236}">
                <a16:creationId xmlns:a16="http://schemas.microsoft.com/office/drawing/2014/main" id="{701C8F70-9070-41A6-B2FA-C8A61F445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24003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B1E19"/>
          </a:solidFill>
          <a:ln xmlns:a="http://schemas.openxmlformats.org/drawingml/2006/main" w="9525">
            <a:solidFill>
              <a:srgbClr val="41433E"/>
            </a:solidFill>
            <a:prstDash val="solid"/>
          </a:ln>
        </p:spPr>
      </p:sp>
      <p:sp>
        <p:nvSpPr>
          <p:cNvPr id="4" name="flow-number">
            <a:extLst xmlns:a="http://schemas.openxmlformats.org/drawingml/2006/main">
              <a:ext uri="{FF2B5EF4-FFF2-40B4-BE49-F238E27FC236}">
                <a16:creationId xmlns:a16="http://schemas.microsoft.com/office/drawing/2014/main" id="{374DBBDB-FDB5-43F4-9C44-2E80E78EB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7FF42"/>
                </a:solidFill>
              </a:defRPr>
            </a:pPr>
            <a:r>
              <a:rPr sz="1500" b="1">
                <a:solidFill>
                  <a:srgbClr val="C7FF42"/>
                </a:solidFill>
              </a:rPr>
              <a:t>1</a:t>
            </a:r>
          </a:p>
        </p:txBody>
      </p:sp>
      <p:sp>
        <p:nvSpPr>
          <p:cNvPr id="5" name="flow-title">
            <a:extLst xmlns:a="http://schemas.openxmlformats.org/drawingml/2006/main">
              <a:ext uri="{FF2B5EF4-FFF2-40B4-BE49-F238E27FC236}">
                <a16:creationId xmlns:a16="http://schemas.microsoft.com/office/drawing/2014/main" id="{B50E9AFF-2F7C-498B-8D1B-F160676B1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2425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EF9"/>
                </a:solidFill>
              </a:defRPr>
            </a:pPr>
            <a:r>
              <a:rPr sz="2325" b="1">
                <a:solidFill>
                  <a:srgbClr val="FFFEF9"/>
                </a:solidFill>
              </a:rPr>
              <a:t>Remember</a:t>
            </a:r>
          </a:p>
        </p:txBody>
      </p:sp>
      <p:sp>
        <p:nvSpPr>
          <p:cNvPr id="6" name="flow-body">
            <a:extLst xmlns:a="http://schemas.openxmlformats.org/drawingml/2006/main">
              <a:ext uri="{FF2B5EF4-FFF2-40B4-BE49-F238E27FC236}">
                <a16:creationId xmlns:a16="http://schemas.microsoft.com/office/drawing/2014/main" id="{89D0B39A-B3D3-4EE1-AC00-81E982070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71950"/>
            <a:ext cx="190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6E0D5"/>
                </a:solidFill>
              </a:defRPr>
            </a:pPr>
            <a:r>
              <a:rPr sz="1500" b="0">
                <a:solidFill>
                  <a:srgbClr val="E6E0D5"/>
                </a:solidFill>
              </a:rPr>
              <a:t>IndexedDB keeps</a:t>
            </a:r>
          </a:p>
          <a:p xmlns:a="http://schemas.openxmlformats.org/drawingml/2006/main">
            <a:pPr algn="l">
              <a:defRPr sz="1500" b="0">
                <a:solidFill>
                  <a:srgbClr val="E6E0D5"/>
                </a:solidFill>
              </a:defRPr>
            </a:pPr>
            <a:r>
              <a:rPr sz="1500" b="0">
                <a:solidFill>
                  <a:srgbClr val="E6E0D5"/>
                </a:solidFill>
              </a:rPr>
              <a:t>complete records local.</a:t>
            </a:r>
          </a:p>
        </p:txBody>
      </p:sp>
      <p:sp>
        <p:nvSpPr>
          <p:cNvPr id="7" name="flow-1">
            <a:extLst xmlns:a="http://schemas.openxmlformats.org/drawingml/2006/main">
              <a:ext uri="{FF2B5EF4-FFF2-40B4-BE49-F238E27FC236}">
                <a16:creationId xmlns:a16="http://schemas.microsoft.com/office/drawing/2014/main" id="{69C3E2C9-22AB-4EC2-867E-34B234E75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762250"/>
            <a:ext cx="24003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B1E19"/>
          </a:solidFill>
          <a:ln xmlns:a="http://schemas.openxmlformats.org/drawingml/2006/main" w="9525">
            <a:solidFill>
              <a:srgbClr val="41433E"/>
            </a:solidFill>
            <a:prstDash val="solid"/>
          </a:ln>
        </p:spPr>
      </p:sp>
      <p:sp>
        <p:nvSpPr>
          <p:cNvPr id="8" name="flow-number">
            <a:extLst xmlns:a="http://schemas.openxmlformats.org/drawingml/2006/main">
              <a:ext uri="{FF2B5EF4-FFF2-40B4-BE49-F238E27FC236}">
                <a16:creationId xmlns:a16="http://schemas.microsoft.com/office/drawing/2014/main" id="{28BC5159-F69B-43A7-9CB4-16721D582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7180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7FF42"/>
                </a:solidFill>
              </a:defRPr>
            </a:pPr>
            <a:r>
              <a:rPr sz="1500" b="1">
                <a:solidFill>
                  <a:srgbClr val="C7FF42"/>
                </a:solidFill>
              </a:rPr>
              <a:t>2</a:t>
            </a:r>
          </a:p>
        </p:txBody>
      </p:sp>
      <p:sp>
        <p:nvSpPr>
          <p:cNvPr id="9" name="flow-title">
            <a:extLst xmlns:a="http://schemas.openxmlformats.org/drawingml/2006/main">
              <a:ext uri="{FF2B5EF4-FFF2-40B4-BE49-F238E27FC236}">
                <a16:creationId xmlns:a16="http://schemas.microsoft.com/office/drawing/2014/main" id="{ACA25A6A-7294-44B1-BD1B-85ECD0FB0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2425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EF9"/>
                </a:solidFill>
              </a:defRPr>
            </a:pPr>
            <a:r>
              <a:rPr sz="2325" b="1">
                <a:solidFill>
                  <a:srgbClr val="FFFEF9"/>
                </a:solidFill>
              </a:rPr>
              <a:t>Rank</a:t>
            </a:r>
          </a:p>
        </p:txBody>
      </p:sp>
      <p:sp>
        <p:nvSpPr>
          <p:cNvPr id="10" name="flow-body">
            <a:extLst xmlns:a="http://schemas.openxmlformats.org/drawingml/2006/main">
              <a:ext uri="{FF2B5EF4-FFF2-40B4-BE49-F238E27FC236}">
                <a16:creationId xmlns:a16="http://schemas.microsoft.com/office/drawing/2014/main" id="{9B95CC7E-57C3-4984-B28C-A20FDF763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171950"/>
            <a:ext cx="190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6E0D5"/>
                </a:solidFill>
              </a:defRPr>
            </a:pPr>
            <a:r>
              <a:rPr sz="1500" b="0">
                <a:solidFill>
                  <a:srgbClr val="E6E0D5"/>
                </a:solidFill>
              </a:rPr>
              <a:t>Overlap, recency,</a:t>
            </a:r>
          </a:p>
          <a:p xmlns:a="http://schemas.openxmlformats.org/drawingml/2006/main">
            <a:pPr algn="l">
              <a:defRPr sz="1500" b="0">
                <a:solidFill>
                  <a:srgbClr val="E6E0D5"/>
                </a:solidFill>
              </a:defRPr>
            </a:pPr>
            <a:r>
              <a:rPr sz="1500" b="0">
                <a:solidFill>
                  <a:srgbClr val="E6E0D5"/>
                </a:solidFill>
              </a:rPr>
              <a:t>and importance.</a:t>
            </a:r>
          </a:p>
        </p:txBody>
      </p:sp>
      <p:sp>
        <p:nvSpPr>
          <p:cNvPr id="11" name="flow-2">
            <a:extLst xmlns:a="http://schemas.openxmlformats.org/drawingml/2006/main">
              <a:ext uri="{FF2B5EF4-FFF2-40B4-BE49-F238E27FC236}">
                <a16:creationId xmlns:a16="http://schemas.microsoft.com/office/drawing/2014/main" id="{3111DB62-DE75-46DC-857E-AF005CC41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62250"/>
            <a:ext cx="24003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B1E19"/>
          </a:solidFill>
          <a:ln xmlns:a="http://schemas.openxmlformats.org/drawingml/2006/main" w="9525">
            <a:solidFill>
              <a:srgbClr val="41433E"/>
            </a:solidFill>
            <a:prstDash val="solid"/>
          </a:ln>
        </p:spPr>
      </p:sp>
      <p:sp>
        <p:nvSpPr>
          <p:cNvPr id="12" name="flow-number">
            <a:extLst xmlns:a="http://schemas.openxmlformats.org/drawingml/2006/main">
              <a:ext uri="{FF2B5EF4-FFF2-40B4-BE49-F238E27FC236}">
                <a16:creationId xmlns:a16="http://schemas.microsoft.com/office/drawing/2014/main" id="{70638858-8363-4051-8B25-AE3F6283B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7180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7FF42"/>
                </a:solidFill>
              </a:defRPr>
            </a:pPr>
            <a:r>
              <a:rPr sz="1500" b="1">
                <a:solidFill>
                  <a:srgbClr val="C7FF42"/>
                </a:solidFill>
              </a:rPr>
              <a:t>3</a:t>
            </a:r>
          </a:p>
        </p:txBody>
      </p:sp>
      <p:sp>
        <p:nvSpPr>
          <p:cNvPr id="13" name="flow-title">
            <a:extLst xmlns:a="http://schemas.openxmlformats.org/drawingml/2006/main">
              <a:ext uri="{FF2B5EF4-FFF2-40B4-BE49-F238E27FC236}">
                <a16:creationId xmlns:a16="http://schemas.microsoft.com/office/drawing/2014/main" id="{E08C980E-AB9D-49E4-979D-973EE906F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2425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EF9"/>
                </a:solidFill>
              </a:defRPr>
            </a:pPr>
            <a:r>
              <a:rPr sz="2325" b="1">
                <a:solidFill>
                  <a:srgbClr val="FFFEF9"/>
                </a:solidFill>
              </a:rPr>
              <a:t>Forget</a:t>
            </a:r>
          </a:p>
        </p:txBody>
      </p:sp>
      <p:sp>
        <p:nvSpPr>
          <p:cNvPr id="14" name="flow-body">
            <a:extLst xmlns:a="http://schemas.openxmlformats.org/drawingml/2006/main">
              <a:ext uri="{FF2B5EF4-FFF2-40B4-BE49-F238E27FC236}">
                <a16:creationId xmlns:a16="http://schemas.microsoft.com/office/drawing/2014/main" id="{4D55FF38-153B-4B86-AEF8-164F576F0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71950"/>
            <a:ext cx="190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6E0D5"/>
                </a:solidFill>
              </a:defRPr>
            </a:pPr>
            <a:r>
              <a:rPr sz="1500" b="0">
                <a:solidFill>
                  <a:srgbClr val="E6E0D5"/>
                </a:solidFill>
              </a:rPr>
              <a:t>TTL or one explicit</a:t>
            </a:r>
          </a:p>
          <a:p xmlns:a="http://schemas.openxmlformats.org/drawingml/2006/main">
            <a:pPr algn="l">
              <a:defRPr sz="1500" b="0">
                <a:solidFill>
                  <a:srgbClr val="E6E0D5"/>
                </a:solidFill>
              </a:defRPr>
            </a:pPr>
            <a:r>
              <a:rPr sz="1500" b="0">
                <a:solidFill>
                  <a:srgbClr val="E6E0D5"/>
                </a:solidFill>
              </a:rPr>
              <a:t>user action.</a:t>
            </a:r>
          </a:p>
        </p:txBody>
      </p:sp>
      <p:sp>
        <p:nvSpPr>
          <p:cNvPr id="15" name="flow-3">
            <a:extLst xmlns:a="http://schemas.openxmlformats.org/drawingml/2006/main">
              <a:ext uri="{FF2B5EF4-FFF2-40B4-BE49-F238E27FC236}">
                <a16:creationId xmlns:a16="http://schemas.microsoft.com/office/drawing/2014/main" id="{7DAC66F3-445C-4476-917F-0EE0E8B26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4003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C7FF42"/>
          </a:solidFill>
          <a:ln xmlns:a="http://schemas.openxmlformats.org/drawingml/2006/main" w="9525">
            <a:solidFill>
              <a:srgbClr val="C7FF42"/>
            </a:solidFill>
            <a:prstDash val="solid"/>
          </a:ln>
        </p:spPr>
      </p:sp>
      <p:sp>
        <p:nvSpPr>
          <p:cNvPr id="16" name="flow-number">
            <a:extLst xmlns:a="http://schemas.openxmlformats.org/drawingml/2006/main">
              <a:ext uri="{FF2B5EF4-FFF2-40B4-BE49-F238E27FC236}">
                <a16:creationId xmlns:a16="http://schemas.microsoft.com/office/drawing/2014/main" id="{29FF1EF5-78ED-4051-A9E8-278D390B1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97180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30F"/>
                </a:solidFill>
              </a:defRPr>
            </a:pPr>
            <a:r>
              <a:rPr sz="1500" b="1">
                <a:solidFill>
                  <a:srgbClr val="11130F"/>
                </a:solidFill>
              </a:rPr>
              <a:t>4</a:t>
            </a:r>
          </a:p>
        </p:txBody>
      </p:sp>
      <p:sp>
        <p:nvSpPr>
          <p:cNvPr id="17" name="flow-title">
            <a:extLst xmlns:a="http://schemas.openxmlformats.org/drawingml/2006/main">
              <a:ext uri="{FF2B5EF4-FFF2-40B4-BE49-F238E27FC236}">
                <a16:creationId xmlns:a16="http://schemas.microsoft.com/office/drawing/2014/main" id="{FD15EA8D-FFCD-4C5B-8202-A5CE3072C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52425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30F"/>
                </a:solidFill>
              </a:defRPr>
            </a:pPr>
            <a:r>
              <a:rPr sz="2325" b="1">
                <a:solidFill>
                  <a:srgbClr val="11130F"/>
                </a:solidFill>
              </a:rPr>
              <a:t>Prove</a:t>
            </a:r>
          </a:p>
        </p:txBody>
      </p:sp>
      <p:sp>
        <p:nvSpPr>
          <p:cNvPr id="18" name="flow-body">
            <a:extLst xmlns:a="http://schemas.openxmlformats.org/drawingml/2006/main">
              <a:ext uri="{FF2B5EF4-FFF2-40B4-BE49-F238E27FC236}">
                <a16:creationId xmlns:a16="http://schemas.microsoft.com/office/drawing/2014/main" id="{883DA351-6D9E-4EB6-9CDB-46A66CB4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171950"/>
            <a:ext cx="190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30F"/>
                </a:solidFill>
              </a:defRPr>
            </a:pPr>
            <a:r>
              <a:rPr sz="1500" b="0">
                <a:solidFill>
                  <a:srgbClr val="11130F"/>
                </a:solidFill>
              </a:rPr>
              <a:t>≤5 records and</a:t>
            </a:r>
          </a:p>
          <a:p xmlns:a="http://schemas.openxmlformats.org/drawingml/2006/main">
            <a:pPr algn="l">
              <a:defRPr sz="1500" b="0">
                <a:solidFill>
                  <a:srgbClr val="11130F"/>
                </a:solidFill>
              </a:defRPr>
            </a:pPr>
            <a:r>
              <a:rPr sz="1500" b="0">
                <a:solidFill>
                  <a:srgbClr val="11130F"/>
                </a:solidFill>
              </a:rPr>
              <a:t>≤1600 characters.</a:t>
            </a:r>
          </a:p>
        </p:txBody>
      </p:sp>
      <p:sp>
        <p:nvSpPr>
          <p:cNvPr id="19" name="result">
            <a:extLst xmlns:a="http://schemas.openxmlformats.org/drawingml/2006/main">
              <a:ext uri="{FF2B5EF4-FFF2-40B4-BE49-F238E27FC236}">
                <a16:creationId xmlns:a16="http://schemas.microsoft.com/office/drawing/2014/main" id="{08E93836-30A5-4273-B2E2-4F97476BE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762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7FF42"/>
                </a:solidFill>
              </a:defRPr>
            </a:pPr>
            <a:r>
              <a:rPr sz="2250" b="1">
                <a:solidFill>
                  <a:srgbClr val="C7FF42"/>
                </a:solidFill>
              </a:rPr>
              <a:t>No proof means no invented answer.</a:t>
            </a:r>
          </a:p>
        </p:txBody>
      </p:sp>
      <p:sp>
        <p:nvSpPr>
          <p:cNvPr id="20" name="footer">
            <a:extLst xmlns:a="http://schemas.openxmlformats.org/drawingml/2006/main">
              <a:ext uri="{FF2B5EF4-FFF2-40B4-BE49-F238E27FC236}">
                <a16:creationId xmlns:a16="http://schemas.microsoft.com/office/drawing/2014/main" id="{16643494-0FB6-4587-905D-D19BBD052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675F"/>
                </a:solidFill>
              </a:defRPr>
            </a:pPr>
            <a:r>
              <a:rPr sz="1200" b="1">
                <a:solidFill>
                  <a:srgbClr val="65675F"/>
                </a:solidFill>
              </a:rPr>
              <a:t>QORX ZERO · LOCAL MEMORY → COMPACT PROOF</a:t>
            </a:r>
          </a:p>
        </p:txBody>
      </p:sp>
      <p:sp>
        <p:nvSpPr>
          <p:cNvPr id="21" name="page">
            <a:extLst xmlns:a="http://schemas.openxmlformats.org/drawingml/2006/main">
              <a:ext uri="{FF2B5EF4-FFF2-40B4-BE49-F238E27FC236}">
                <a16:creationId xmlns:a16="http://schemas.microsoft.com/office/drawing/2014/main" id="{47DF4BE4-40F7-4517-905B-DC281B81D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5675F"/>
                </a:solidFill>
              </a:defRPr>
            </a:pPr>
            <a:r>
              <a:rPr sz="1200" b="1">
                <a:solidFill>
                  <a:srgbClr val="65675F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254597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">
            <a:extLst xmlns:a="http://schemas.openxmlformats.org/drawingml/2006/main">
              <a:ext uri="{FF2B5EF4-FFF2-40B4-BE49-F238E27FC236}">
                <a16:creationId xmlns:a16="http://schemas.microsoft.com/office/drawing/2014/main" id="{3AF2E1CF-F272-4B8E-B341-B22FDCF99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9906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1130F"/>
                </a:solidFill>
              </a:defRPr>
            </a:pPr>
            <a:r>
              <a:rPr sz="3900" b="1">
                <a:solidFill>
                  <a:srgbClr val="11130F"/>
                </a:solidFill>
              </a:rPr>
              <a:t>Forgetting is a product control,</a:t>
            </a:r>
          </a:p>
          <a:p xmlns:a="http://schemas.openxmlformats.org/drawingml/2006/main">
            <a:pPr algn="l">
              <a:defRPr sz="3900" b="1">
                <a:solidFill>
                  <a:srgbClr val="11130F"/>
                </a:solidFill>
              </a:defRPr>
            </a:pPr>
            <a:r>
              <a:rPr sz="3900" b="1">
                <a:solidFill>
                  <a:srgbClr val="11130F"/>
                </a:solidFill>
              </a:rPr>
              <a:t>not a hidden policy.</a:t>
            </a:r>
          </a:p>
        </p:txBody>
      </p:sp>
      <p:sp>
        <p:nvSpPr>
          <p:cNvPr id="2" name="memory">
            <a:extLst xmlns:a="http://schemas.openxmlformats.org/drawingml/2006/main">
              <a:ext uri="{FF2B5EF4-FFF2-40B4-BE49-F238E27FC236}">
                <a16:creationId xmlns:a16="http://schemas.microsoft.com/office/drawing/2014/main" id="{0A012C35-7EAE-448C-93B3-A96814A13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4095750" cy="224790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11130F"/>
          </a:solidFill>
          <a:ln xmlns:a="http://schemas.openxmlformats.org/drawingml/2006/main" w="9525">
            <a:solidFill>
              <a:srgbClr val="11130F"/>
            </a:solidFill>
            <a:prstDash val="solid"/>
          </a:ln>
        </p:spPr>
      </p:sp>
      <p:sp>
        <p:nvSpPr>
          <p:cNvPr id="3" name="memory-label">
            <a:extLst xmlns:a="http://schemas.openxmlformats.org/drawingml/2006/main">
              <a:ext uri="{FF2B5EF4-FFF2-40B4-BE49-F238E27FC236}">
                <a16:creationId xmlns:a16="http://schemas.microsoft.com/office/drawing/2014/main" id="{573158E2-E0A4-4C07-BFFB-AF1219A3C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FF42"/>
                </a:solidFill>
              </a:defRPr>
            </a:pPr>
            <a:r>
              <a:rPr sz="1350" b="1">
                <a:solidFill>
                  <a:srgbClr val="C7FF42"/>
                </a:solidFill>
              </a:rPr>
              <a:t>LOCAL MEMORY</a:t>
            </a:r>
          </a:p>
        </p:txBody>
      </p:sp>
      <p:sp>
        <p:nvSpPr>
          <p:cNvPr id="4" name="memory-copy">
            <a:extLst xmlns:a="http://schemas.openxmlformats.org/drawingml/2006/main">
              <a:ext uri="{FF2B5EF4-FFF2-40B4-BE49-F238E27FC236}">
                <a16:creationId xmlns:a16="http://schemas.microsoft.com/office/drawing/2014/main" id="{A656EC57-5BCC-4821-9BC4-60C8C2101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4325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EF9"/>
                </a:solidFill>
              </a:defRPr>
            </a:pPr>
            <a:r>
              <a:rPr sz="2325" b="1">
                <a:solidFill>
                  <a:srgbClr val="FFFEF9"/>
                </a:solidFill>
              </a:rPr>
              <a:t>The launch video must</a:t>
            </a:r>
          </a:p>
          <a:p xmlns:a="http://schemas.openxmlformats.org/drawingml/2006/main">
            <a:pPr algn="l">
              <a:defRPr sz="2325" b="1">
                <a:solidFill>
                  <a:srgbClr val="FFFEF9"/>
                </a:solidFill>
              </a:defRPr>
            </a:pPr>
            <a:r>
              <a:rPr sz="2325" b="1">
                <a:solidFill>
                  <a:srgbClr val="FFFEF9"/>
                </a:solidFill>
              </a:rPr>
              <a:t>stay under three minutes.</a:t>
            </a:r>
          </a:p>
        </p:txBody>
      </p:sp>
      <p:sp>
        <p:nvSpPr>
          <p:cNvPr id="5" name="memory-meta">
            <a:extLst xmlns:a="http://schemas.openxmlformats.org/drawingml/2006/main">
              <a:ext uri="{FF2B5EF4-FFF2-40B4-BE49-F238E27FC236}">
                <a16:creationId xmlns:a16="http://schemas.microsoft.com/office/drawing/2014/main" id="{0F9A1BEC-7AB6-445B-81DE-201C44194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100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6E0D5"/>
                </a:solidFill>
              </a:defRPr>
            </a:pPr>
            <a:r>
              <a:rPr sz="1200" b="0">
                <a:solidFill>
                  <a:srgbClr val="E6E0D5"/>
                </a:solidFill>
              </a:rPr>
              <a:t>#launch  ·  importance 5</a:t>
            </a:r>
          </a:p>
        </p:txBody>
      </p:sp>
      <p:sp>
        <p:nvSpPr>
          <p:cNvPr id="6" name="arrow">
            <a:extLst xmlns:a="http://schemas.openxmlformats.org/drawingml/2006/main">
              <a:ext uri="{FF2B5EF4-FFF2-40B4-BE49-F238E27FC236}">
                <a16:creationId xmlns:a16="http://schemas.microsoft.com/office/drawing/2014/main" id="{2594E7D4-7D7C-42B3-9C7C-0A9BBFDF2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48000"/>
            <a:ext cx="57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65675F"/>
                </a:solidFill>
              </a:defRPr>
            </a:pPr>
            <a:r>
              <a:rPr sz="3900" b="1">
                <a:solidFill>
                  <a:srgbClr val="65675F"/>
                </a:solidFill>
              </a:rPr>
              <a:t>→</a:t>
            </a:r>
          </a:p>
        </p:txBody>
      </p:sp>
      <p:sp>
        <p:nvSpPr>
          <p:cNvPr id="7" name="ttl">
            <a:extLst xmlns:a="http://schemas.openxmlformats.org/drawingml/2006/main">
              <a:ext uri="{FF2B5EF4-FFF2-40B4-BE49-F238E27FC236}">
                <a16:creationId xmlns:a16="http://schemas.microsoft.com/office/drawing/2014/main" id="{BD7ACF5C-61AF-463B-9BB2-5F894F586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90750"/>
            <a:ext cx="51435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EF9"/>
          </a:solidFill>
          <a:ln xmlns:a="http://schemas.openxmlformats.org/drawingml/2006/main" w="9525">
            <a:solidFill>
              <a:srgbClr val="C9C4B9"/>
            </a:solidFill>
            <a:prstDash val="solid"/>
          </a:ln>
        </p:spPr>
      </p:sp>
      <p:sp>
        <p:nvSpPr>
          <p:cNvPr id="8" name="ttl-title">
            <a:extLst xmlns:a="http://schemas.openxmlformats.org/drawingml/2006/main">
              <a:ext uri="{FF2B5EF4-FFF2-40B4-BE49-F238E27FC236}">
                <a16:creationId xmlns:a16="http://schemas.microsoft.com/office/drawing/2014/main" id="{952D81B5-8C4D-4A1F-BD59-00BC3B236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812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0F"/>
                </a:solidFill>
              </a:defRPr>
            </a:pPr>
            <a:r>
              <a:rPr sz="1800" b="1">
                <a:solidFill>
                  <a:srgbClr val="11130F"/>
                </a:solidFill>
              </a:rPr>
              <a:t>Automatic</a:t>
            </a:r>
          </a:p>
        </p:txBody>
      </p:sp>
      <p:sp>
        <p:nvSpPr>
          <p:cNvPr id="9" name="ttl-copy">
            <a:extLst xmlns:a="http://schemas.openxmlformats.org/drawingml/2006/main">
              <a:ext uri="{FF2B5EF4-FFF2-40B4-BE49-F238E27FC236}">
                <a16:creationId xmlns:a16="http://schemas.microsoft.com/office/drawing/2014/main" id="{17BEA954-D6D5-4708-B101-A7190766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003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5675F"/>
                </a:solidFill>
              </a:defRPr>
            </a:pPr>
            <a:r>
              <a:rPr sz="1500" b="0">
                <a:solidFill>
                  <a:srgbClr val="65675F"/>
                </a:solidFill>
              </a:rPr>
              <a:t>Expiry removes the record before ranking.</a:t>
            </a:r>
          </a:p>
        </p:txBody>
      </p:sp>
      <p:sp>
        <p:nvSpPr>
          <p:cNvPr id="10" name="explicit">
            <a:extLst xmlns:a="http://schemas.openxmlformats.org/drawingml/2006/main">
              <a:ext uri="{FF2B5EF4-FFF2-40B4-BE49-F238E27FC236}">
                <a16:creationId xmlns:a16="http://schemas.microsoft.com/office/drawing/2014/main" id="{D03BCB02-5628-43D3-A9D2-292390040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24250"/>
            <a:ext cx="51435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C7FF42"/>
          </a:solidFill>
          <a:ln xmlns:a="http://schemas.openxmlformats.org/drawingml/2006/main" w="9525">
            <a:solidFill>
              <a:srgbClr val="C7FF42"/>
            </a:solidFill>
            <a:prstDash val="solid"/>
          </a:ln>
        </p:spPr>
      </p:sp>
      <p:sp>
        <p:nvSpPr>
          <p:cNvPr id="11" name="explicit-title">
            <a:extLst xmlns:a="http://schemas.openxmlformats.org/drawingml/2006/main">
              <a:ext uri="{FF2B5EF4-FFF2-40B4-BE49-F238E27FC236}">
                <a16:creationId xmlns:a16="http://schemas.microsoft.com/office/drawing/2014/main" id="{D48ACE83-F932-432A-B60E-75A2699DF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147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0F"/>
                </a:solidFill>
              </a:defRPr>
            </a:pPr>
            <a:r>
              <a:rPr sz="1800" b="1">
                <a:solidFill>
                  <a:srgbClr val="11130F"/>
                </a:solidFill>
              </a:rPr>
              <a:t>Immediate</a:t>
            </a:r>
          </a:p>
        </p:txBody>
      </p:sp>
      <p:sp>
        <p:nvSpPr>
          <p:cNvPr id="12" name="explicit-copy">
            <a:extLst xmlns:a="http://schemas.openxmlformats.org/drawingml/2006/main">
              <a:ext uri="{FF2B5EF4-FFF2-40B4-BE49-F238E27FC236}">
                <a16:creationId xmlns:a16="http://schemas.microsoft.com/office/drawing/2014/main" id="{76705956-ED85-4E97-8CFA-132BDC220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338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30F"/>
                </a:solidFill>
              </a:defRPr>
            </a:pPr>
            <a:r>
              <a:rPr sz="1500" b="0">
                <a:solidFill>
                  <a:srgbClr val="11130F"/>
                </a:solidFill>
              </a:rPr>
              <a:t>Forget deletes the IndexedDB record now.</a:t>
            </a:r>
          </a:p>
        </p:txBody>
      </p:sp>
      <p:sp>
        <p:nvSpPr>
          <p:cNvPr id="13" name="result">
            <a:extLst xmlns:a="http://schemas.openxmlformats.org/drawingml/2006/main">
              <a:ext uri="{FF2B5EF4-FFF2-40B4-BE49-F238E27FC236}">
                <a16:creationId xmlns:a16="http://schemas.microsoft.com/office/drawing/2014/main" id="{B16829B7-2F4E-4402-8ADE-686E2B436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30F"/>
                </a:solidFill>
              </a:defRPr>
            </a:pPr>
            <a:r>
              <a:rPr sz="2325" b="1">
                <a:solidFill>
                  <a:srgbClr val="11130F"/>
                </a:solidFill>
              </a:rPr>
              <a:t>The next answer cannot recall what no longer exists.</a:t>
            </a:r>
          </a:p>
        </p:txBody>
      </p:sp>
      <p:sp>
        <p:nvSpPr>
          <p:cNvPr id="14" name="footer">
            <a:extLst xmlns:a="http://schemas.openxmlformats.org/drawingml/2006/main">
              <a:ext uri="{FF2B5EF4-FFF2-40B4-BE49-F238E27FC236}">
                <a16:creationId xmlns:a16="http://schemas.microsoft.com/office/drawing/2014/main" id="{ABADF61F-73F6-42DA-B098-B074C22C3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675F"/>
                </a:solidFill>
              </a:defRPr>
            </a:pPr>
            <a:r>
              <a:rPr sz="1200" b="1">
                <a:solidFill>
                  <a:srgbClr val="65675F"/>
                </a:solidFill>
              </a:rPr>
              <a:t>QORX ZERO · HACKATHON EDITION</a:t>
            </a:r>
          </a:p>
        </p:txBody>
      </p:sp>
      <p:sp>
        <p:nvSpPr>
          <p:cNvPr id="15" name="page">
            <a:extLst xmlns:a="http://schemas.openxmlformats.org/drawingml/2006/main">
              <a:ext uri="{FF2B5EF4-FFF2-40B4-BE49-F238E27FC236}">
                <a16:creationId xmlns:a16="http://schemas.microsoft.com/office/drawing/2014/main" id="{8A521B9F-E074-42FC-8D18-A2977DCEC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5675F"/>
                </a:solidFill>
              </a:defRPr>
            </a:pPr>
            <a:r>
              <a:rPr sz="1200" b="1">
                <a:solidFill>
                  <a:srgbClr val="65675F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853529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itle">
            <a:extLst xmlns:a="http://schemas.openxmlformats.org/drawingml/2006/main">
              <a:ext uri="{FF2B5EF4-FFF2-40B4-BE49-F238E27FC236}">
                <a16:creationId xmlns:a16="http://schemas.microsoft.com/office/drawing/2014/main" id="{0A83F9F3-A701-48D8-8D7D-BD9A2B979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9906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1130F"/>
                </a:solidFill>
              </a:defRPr>
            </a:pPr>
            <a:r>
              <a:rPr sz="3900" b="1">
                <a:solidFill>
                  <a:srgbClr val="11130F"/>
                </a:solidFill>
              </a:rPr>
              <a:t>Small enough to inspect.</a:t>
            </a:r>
          </a:p>
          <a:p xmlns:a="http://schemas.openxmlformats.org/drawingml/2006/main">
            <a:pPr algn="l">
              <a:defRPr sz="3900" b="1">
                <a:solidFill>
                  <a:srgbClr val="11130F"/>
                </a:solidFill>
              </a:defRPr>
            </a:pPr>
            <a:r>
              <a:rPr sz="3900" b="1">
                <a:solidFill>
                  <a:srgbClr val="11130F"/>
                </a:solidFill>
              </a:rPr>
              <a:t>Complete enough to ship.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32DDBCF-55A2-45BF-8905-4145951F1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5675F"/>
                </a:solidFill>
              </a:defRPr>
            </a:pPr>
            <a:r>
              <a:rPr sz="1800" b="0">
                <a:solidFill>
                  <a:srgbClr val="65675F"/>
                </a:solidFill>
              </a:rPr>
              <a:t>The Hackathon Edition has no private runtime dependency.</a:t>
            </a:r>
          </a:p>
        </p:txBody>
      </p:sp>
      <p:sp>
        <p:nvSpPr>
          <p:cNvPr id="3" name="stat-0">
            <a:extLst xmlns:a="http://schemas.openxmlformats.org/drawingml/2006/main">
              <a:ext uri="{FF2B5EF4-FFF2-40B4-BE49-F238E27FC236}">
                <a16:creationId xmlns:a16="http://schemas.microsoft.com/office/drawing/2014/main" id="{7E7B5784-DEFC-4728-9792-2299170D5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2400300" cy="24765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C7FF42"/>
          </a:solidFill>
          <a:ln xmlns:a="http://schemas.openxmlformats.org/drawingml/2006/main" w="9525">
            <a:solidFill>
              <a:srgbClr val="C7FF42"/>
            </a:solidFill>
            <a:prstDash val="solid"/>
          </a:ln>
        </p:spPr>
      </p:sp>
      <p:sp>
        <p:nvSpPr>
          <p:cNvPr id="4" name="stat-number">
            <a:extLst xmlns:a="http://schemas.openxmlformats.org/drawingml/2006/main">
              <a:ext uri="{FF2B5EF4-FFF2-40B4-BE49-F238E27FC236}">
                <a16:creationId xmlns:a16="http://schemas.microsoft.com/office/drawing/2014/main" id="{03AA1C02-E2F2-4397-902E-74F274BF5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2750"/>
            <a:ext cx="1952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30F"/>
                </a:solidFill>
              </a:defRPr>
            </a:pPr>
            <a:r>
              <a:rPr sz="3600" b="1">
                <a:solidFill>
                  <a:srgbClr val="11130F"/>
                </a:solidFill>
              </a:rPr>
              <a:t>7 / 7</a:t>
            </a:r>
          </a:p>
        </p:txBody>
      </p:sp>
      <p:sp>
        <p:nvSpPr>
          <p:cNvPr id="5" name="stat-title">
            <a:extLst xmlns:a="http://schemas.openxmlformats.org/drawingml/2006/main">
              <a:ext uri="{FF2B5EF4-FFF2-40B4-BE49-F238E27FC236}">
                <a16:creationId xmlns:a16="http://schemas.microsoft.com/office/drawing/2014/main" id="{BA758C7A-98F4-4214-9B74-F25B0C04B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48100"/>
            <a:ext cx="1952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0F"/>
                </a:solidFill>
              </a:defRPr>
            </a:pPr>
            <a:r>
              <a:rPr sz="1800" b="1">
                <a:solidFill>
                  <a:srgbClr val="11130F"/>
                </a:solidFill>
              </a:rPr>
              <a:t>Node unit checks</a:t>
            </a:r>
          </a:p>
        </p:txBody>
      </p:sp>
      <p:sp>
        <p:nvSpPr>
          <p:cNvPr id="6" name="stat-body">
            <a:extLst xmlns:a="http://schemas.openxmlformats.org/drawingml/2006/main">
              <a:ext uri="{FF2B5EF4-FFF2-40B4-BE49-F238E27FC236}">
                <a16:creationId xmlns:a16="http://schemas.microsoft.com/office/drawing/2014/main" id="{6C909D17-1017-4F1F-8BA7-65C8B3B46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95800"/>
            <a:ext cx="1952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675F"/>
                </a:solidFill>
              </a:defRPr>
            </a:pPr>
            <a:r>
              <a:rPr sz="1350" b="0">
                <a:solidFill>
                  <a:srgbClr val="65675F"/>
                </a:solidFill>
              </a:rPr>
              <a:t>ranking, expiry, caps, forgetting</a:t>
            </a:r>
          </a:p>
        </p:txBody>
      </p:sp>
      <p:sp>
        <p:nvSpPr>
          <p:cNvPr id="7" name="stat-1">
            <a:extLst xmlns:a="http://schemas.openxmlformats.org/drawingml/2006/main">
              <a:ext uri="{FF2B5EF4-FFF2-40B4-BE49-F238E27FC236}">
                <a16:creationId xmlns:a16="http://schemas.microsoft.com/office/drawing/2014/main" id="{57BC889A-E6FE-4385-AAA0-BD6DC2534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743200"/>
            <a:ext cx="2400300" cy="24765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EF9"/>
          </a:solidFill>
          <a:ln xmlns:a="http://schemas.openxmlformats.org/drawingml/2006/main" w="9525">
            <a:solidFill>
              <a:srgbClr val="C9C4B9"/>
            </a:solidFill>
            <a:prstDash val="solid"/>
          </a:ln>
        </p:spPr>
      </p:sp>
      <p:sp>
        <p:nvSpPr>
          <p:cNvPr id="8" name="stat-number">
            <a:extLst xmlns:a="http://schemas.openxmlformats.org/drawingml/2006/main">
              <a:ext uri="{FF2B5EF4-FFF2-40B4-BE49-F238E27FC236}">
                <a16:creationId xmlns:a16="http://schemas.microsoft.com/office/drawing/2014/main" id="{6664AA52-2E4A-4CE4-9BE3-FCB5F27C1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952750"/>
            <a:ext cx="1952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30F"/>
                </a:solidFill>
              </a:defRPr>
            </a:pPr>
            <a:r>
              <a:rPr sz="3600" b="1">
                <a:solidFill>
                  <a:srgbClr val="11130F"/>
                </a:solidFill>
              </a:rPr>
              <a:t>6 / 6</a:t>
            </a:r>
          </a:p>
        </p:txBody>
      </p:sp>
      <p:sp>
        <p:nvSpPr>
          <p:cNvPr id="9" name="stat-title">
            <a:extLst xmlns:a="http://schemas.openxmlformats.org/drawingml/2006/main">
              <a:ext uri="{FF2B5EF4-FFF2-40B4-BE49-F238E27FC236}">
                <a16:creationId xmlns:a16="http://schemas.microsoft.com/office/drawing/2014/main" id="{423B57DD-9827-4092-8202-6CAD3A016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48100"/>
            <a:ext cx="1952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0F"/>
                </a:solidFill>
              </a:defRPr>
            </a:pPr>
            <a:r>
              <a:rPr sz="1800" b="1">
                <a:solidFill>
                  <a:srgbClr val="11130F"/>
                </a:solidFill>
              </a:rPr>
              <a:t>Notebook checks</a:t>
            </a:r>
          </a:p>
        </p:txBody>
      </p:sp>
      <p:sp>
        <p:nvSpPr>
          <p:cNvPr id="10" name="stat-body">
            <a:extLst xmlns:a="http://schemas.openxmlformats.org/drawingml/2006/main">
              <a:ext uri="{FF2B5EF4-FFF2-40B4-BE49-F238E27FC236}">
                <a16:creationId xmlns:a16="http://schemas.microsoft.com/office/drawing/2014/main" id="{4C824760-AA40-450D-846D-3F6B57CEF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495800"/>
            <a:ext cx="1952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675F"/>
                </a:solidFill>
              </a:defRPr>
            </a:pPr>
            <a:r>
              <a:rPr sz="1350" b="0">
                <a:solidFill>
                  <a:srgbClr val="65675F"/>
                </a:solidFill>
              </a:rPr>
              <a:t>independent synthetic validation</a:t>
            </a:r>
          </a:p>
        </p:txBody>
      </p:sp>
      <p:sp>
        <p:nvSpPr>
          <p:cNvPr id="11" name="stat-2">
            <a:extLst xmlns:a="http://schemas.openxmlformats.org/drawingml/2006/main">
              <a:ext uri="{FF2B5EF4-FFF2-40B4-BE49-F238E27FC236}">
                <a16:creationId xmlns:a16="http://schemas.microsoft.com/office/drawing/2014/main" id="{92DB9186-6269-4A9F-BB57-968D44379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43200"/>
            <a:ext cx="2400300" cy="24765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EF9"/>
          </a:solidFill>
          <a:ln xmlns:a="http://schemas.openxmlformats.org/drawingml/2006/main" w="9525">
            <a:solidFill>
              <a:srgbClr val="C9C4B9"/>
            </a:solidFill>
            <a:prstDash val="solid"/>
          </a:ln>
        </p:spPr>
      </p:sp>
      <p:sp>
        <p:nvSpPr>
          <p:cNvPr id="12" name="stat-number">
            <a:extLst xmlns:a="http://schemas.openxmlformats.org/drawingml/2006/main">
              <a:ext uri="{FF2B5EF4-FFF2-40B4-BE49-F238E27FC236}">
                <a16:creationId xmlns:a16="http://schemas.microsoft.com/office/drawing/2014/main" id="{D8121C00-7E03-430B-A8E0-438DC5845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52750"/>
            <a:ext cx="1952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30F"/>
                </a:solidFill>
              </a:defRPr>
            </a:pPr>
            <a:r>
              <a:rPr sz="3600" b="1">
                <a:solidFill>
                  <a:srgbClr val="11130F"/>
                </a:solidFill>
              </a:rPr>
              <a:t>2</a:t>
            </a:r>
          </a:p>
        </p:txBody>
      </p:sp>
      <p:sp>
        <p:nvSpPr>
          <p:cNvPr id="13" name="stat-title">
            <a:extLst xmlns:a="http://schemas.openxmlformats.org/drawingml/2006/main">
              <a:ext uri="{FF2B5EF4-FFF2-40B4-BE49-F238E27FC236}">
                <a16:creationId xmlns:a16="http://schemas.microsoft.com/office/drawing/2014/main" id="{7B378F11-D5F8-4B59-8BB6-C1A6C3284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48100"/>
            <a:ext cx="1952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0F"/>
                </a:solidFill>
              </a:defRPr>
            </a:pPr>
            <a:r>
              <a:rPr sz="1800" b="1">
                <a:solidFill>
                  <a:srgbClr val="11130F"/>
                </a:solidFill>
              </a:rPr>
              <a:t>Provider adapters</a:t>
            </a:r>
          </a:p>
        </p:txBody>
      </p:sp>
      <p:sp>
        <p:nvSpPr>
          <p:cNvPr id="14" name="stat-body">
            <a:extLst xmlns:a="http://schemas.openxmlformats.org/drawingml/2006/main">
              <a:ext uri="{FF2B5EF4-FFF2-40B4-BE49-F238E27FC236}">
                <a16:creationId xmlns:a16="http://schemas.microsoft.com/office/drawing/2014/main" id="{27B6807A-D10D-44DB-9378-9C4714D42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95800"/>
            <a:ext cx="1952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675F"/>
                </a:solidFill>
              </a:defRPr>
            </a:pPr>
            <a:r>
              <a:rPr sz="1350" b="0">
                <a:solidFill>
                  <a:srgbClr val="65675F"/>
                </a:solidFill>
              </a:rPr>
              <a:t>OpenAI and Qwen Responses APIs</a:t>
            </a:r>
          </a:p>
        </p:txBody>
      </p:sp>
      <p:sp>
        <p:nvSpPr>
          <p:cNvPr id="15" name="stat-3">
            <a:extLst xmlns:a="http://schemas.openxmlformats.org/drawingml/2006/main">
              <a:ext uri="{FF2B5EF4-FFF2-40B4-BE49-F238E27FC236}">
                <a16:creationId xmlns:a16="http://schemas.microsoft.com/office/drawing/2014/main" id="{6DF4F62B-76FD-49F8-AA50-CA1C76351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743200"/>
            <a:ext cx="2400300" cy="24765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EF9"/>
          </a:solidFill>
          <a:ln xmlns:a="http://schemas.openxmlformats.org/drawingml/2006/main" w="9525">
            <a:solidFill>
              <a:srgbClr val="C9C4B9"/>
            </a:solidFill>
            <a:prstDash val="solid"/>
          </a:ln>
        </p:spPr>
      </p:sp>
      <p:sp>
        <p:nvSpPr>
          <p:cNvPr id="16" name="stat-number">
            <a:extLst xmlns:a="http://schemas.openxmlformats.org/drawingml/2006/main">
              <a:ext uri="{FF2B5EF4-FFF2-40B4-BE49-F238E27FC236}">
                <a16:creationId xmlns:a16="http://schemas.microsoft.com/office/drawing/2014/main" id="{824AC6A3-AF85-4036-B68D-C8A2CC04A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52750"/>
            <a:ext cx="1952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30F"/>
                </a:solidFill>
              </a:defRPr>
            </a:pPr>
            <a:r>
              <a:rPr sz="3600" b="1">
                <a:solidFill>
                  <a:srgbClr val="11130F"/>
                </a:solidFill>
              </a:rPr>
              <a:t>0</a:t>
            </a:r>
          </a:p>
        </p:txBody>
      </p:sp>
      <p:sp>
        <p:nvSpPr>
          <p:cNvPr id="17" name="stat-title">
            <a:extLst xmlns:a="http://schemas.openxmlformats.org/drawingml/2006/main">
              <a:ext uri="{FF2B5EF4-FFF2-40B4-BE49-F238E27FC236}">
                <a16:creationId xmlns:a16="http://schemas.microsoft.com/office/drawing/2014/main" id="{DB0EB37A-F1DE-4A7F-A930-3052AFEFF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848100"/>
            <a:ext cx="1952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0F"/>
                </a:solidFill>
              </a:defRPr>
            </a:pPr>
            <a:r>
              <a:rPr sz="1800" b="1">
                <a:solidFill>
                  <a:srgbClr val="11130F"/>
                </a:solidFill>
              </a:rPr>
              <a:t>Private dependencies</a:t>
            </a:r>
          </a:p>
        </p:txBody>
      </p:sp>
      <p:sp>
        <p:nvSpPr>
          <p:cNvPr id="18" name="stat-body">
            <a:extLst xmlns:a="http://schemas.openxmlformats.org/drawingml/2006/main">
              <a:ext uri="{FF2B5EF4-FFF2-40B4-BE49-F238E27FC236}">
                <a16:creationId xmlns:a16="http://schemas.microsoft.com/office/drawing/2014/main" id="{EB5C8FD7-F929-427B-B699-8ACE7BAD3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495800"/>
            <a:ext cx="1952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675F"/>
                </a:solidFill>
              </a:defRPr>
            </a:pPr>
            <a:r>
              <a:rPr sz="1350" b="0">
                <a:solidFill>
                  <a:srgbClr val="65675F"/>
                </a:solidFill>
              </a:rPr>
              <a:t>clean-room public implementation</a:t>
            </a:r>
          </a:p>
        </p:txBody>
      </p:sp>
      <p:sp>
        <p:nvSpPr>
          <p:cNvPr id="19" name="stack">
            <a:extLst xmlns:a="http://schemas.openxmlformats.org/drawingml/2006/main">
              <a:ext uri="{FF2B5EF4-FFF2-40B4-BE49-F238E27FC236}">
                <a16:creationId xmlns:a16="http://schemas.microsoft.com/office/drawing/2014/main" id="{5668C452-F263-4272-9852-35B3B9113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5675F"/>
                </a:solidFill>
              </a:defRPr>
            </a:pPr>
            <a:r>
              <a:rPr sz="1500" b="1">
                <a:solidFill>
                  <a:srgbClr val="65675F"/>
                </a:solidFill>
              </a:rPr>
              <a:t>React · Vinext · IndexedDB · AGPL-3.0</a:t>
            </a:r>
          </a:p>
        </p:txBody>
      </p:sp>
      <p:sp>
        <p:nvSpPr>
          <p:cNvPr id="20" name="footer">
            <a:extLst xmlns:a="http://schemas.openxmlformats.org/drawingml/2006/main">
              <a:ext uri="{FF2B5EF4-FFF2-40B4-BE49-F238E27FC236}">
                <a16:creationId xmlns:a16="http://schemas.microsoft.com/office/drawing/2014/main" id="{2DC1FF98-7FB1-4C5E-8EE1-F2B7F42D2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675F"/>
                </a:solidFill>
              </a:defRPr>
            </a:pPr>
            <a:r>
              <a:rPr sz="1200" b="1">
                <a:solidFill>
                  <a:srgbClr val="65675F"/>
                </a:solidFill>
              </a:rPr>
              <a:t>QORX ZERO · HACKATHON EDITION</a:t>
            </a:r>
          </a:p>
        </p:txBody>
      </p:sp>
      <p:sp>
        <p:nvSpPr>
          <p:cNvPr id="21" name="page">
            <a:extLst xmlns:a="http://schemas.openxmlformats.org/drawingml/2006/main">
              <a:ext uri="{FF2B5EF4-FFF2-40B4-BE49-F238E27FC236}">
                <a16:creationId xmlns:a16="http://schemas.microsoft.com/office/drawing/2014/main" id="{4D9DD977-AE9B-400B-80AA-3A9ABB234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5675F"/>
                </a:solidFill>
              </a:defRPr>
            </a:pPr>
            <a:r>
              <a:rPr sz="1200" b="1">
                <a:solidFill>
                  <a:srgbClr val="65675F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290085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1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mark">
            <a:extLst xmlns:a="http://schemas.openxmlformats.org/drawingml/2006/main">
              <a:ext uri="{FF2B5EF4-FFF2-40B4-BE49-F238E27FC236}">
                <a16:creationId xmlns:a16="http://schemas.microsoft.com/office/drawing/2014/main" id="{DD7CE130-3322-41DA-912A-B93F8F29A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7FF42"/>
                </a:solidFill>
              </a:defRPr>
            </a:pPr>
            <a:r>
              <a:rPr sz="2100" b="1">
                <a:solidFill>
                  <a:srgbClr val="C7FF42"/>
                </a:solidFill>
              </a:rPr>
              <a:t>Q0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06C269B-6523-4488-B3CD-AA1B366D4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9906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FFFEF9"/>
                </a:solidFill>
              </a:defRPr>
            </a:pPr>
            <a:r>
              <a:rPr sz="6150" b="1">
                <a:solidFill>
                  <a:srgbClr val="FFFEF9"/>
                </a:solidFill>
              </a:rPr>
              <a:t>Keep the memory.</a:t>
            </a:r>
          </a:p>
          <a:p xmlns:a="http://schemas.openxmlformats.org/drawingml/2006/main">
            <a:pPr algn="l">
              <a:defRPr sz="6150" b="1">
                <a:solidFill>
                  <a:srgbClr val="FFFEF9"/>
                </a:solidFill>
              </a:defRPr>
            </a:pPr>
            <a:r>
              <a:rPr sz="6150" b="1">
                <a:solidFill>
                  <a:srgbClr val="FFFEF9"/>
                </a:solidFill>
              </a:rPr>
              <a:t>Send the proof.</a:t>
            </a:r>
          </a:p>
        </p:txBody>
      </p:sp>
      <p:sp>
        <p:nvSpPr>
          <p:cNvPr id="3" name="product">
            <a:extLst xmlns:a="http://schemas.openxmlformats.org/drawingml/2006/main">
              <a:ext uri="{FF2B5EF4-FFF2-40B4-BE49-F238E27FC236}">
                <a16:creationId xmlns:a16="http://schemas.microsoft.com/office/drawing/2014/main" id="{5A0FCB6A-BAEE-42D9-8E04-BEA1742E7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C7FF42"/>
                </a:solidFill>
              </a:defRPr>
            </a:pPr>
            <a:r>
              <a:rPr sz="2850" b="1">
                <a:solidFill>
                  <a:srgbClr val="C7FF42"/>
                </a:solidFill>
              </a:rPr>
              <a:t>Qorx Zero</a:t>
            </a:r>
          </a:p>
        </p:txBody>
      </p:sp>
      <p:sp>
        <p:nvSpPr>
          <p:cNvPr id="4" name="evidence">
            <a:extLst xmlns:a="http://schemas.openxmlformats.org/drawingml/2006/main">
              <a:ext uri="{FF2B5EF4-FFF2-40B4-BE49-F238E27FC236}">
                <a16:creationId xmlns:a16="http://schemas.microsoft.com/office/drawing/2014/main" id="{3EBD0DE3-4CBA-48C0-9DE5-2281006D8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101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6E0D5"/>
                </a:solidFill>
              </a:defRPr>
            </a:pPr>
            <a:r>
              <a:rPr sz="1800" b="0">
                <a:solidFill>
                  <a:srgbClr val="E6E0D5"/>
                </a:solidFill>
              </a:rPr>
              <a:t>Working prototype · public source · visible proof · explicit forgetting</a:t>
            </a:r>
          </a:p>
        </p:txBody>
      </p:sp>
      <p:sp>
        <p:nvSpPr>
          <p:cNvPr id="5" name="cta">
            <a:extLst xmlns:a="http://schemas.openxmlformats.org/drawingml/2006/main">
              <a:ext uri="{FF2B5EF4-FFF2-40B4-BE49-F238E27FC236}">
                <a16:creationId xmlns:a16="http://schemas.microsoft.com/office/drawing/2014/main" id="{CA06A489-66F7-4BE8-BBF0-10EE33C37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62500"/>
            <a:ext cx="2476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C7FF42"/>
          </a:solidFill>
          <a:ln xmlns:a="http://schemas.openxmlformats.org/drawingml/2006/main" w="9525">
            <a:solidFill>
              <a:srgbClr val="C7FF42"/>
            </a:solidFill>
            <a:prstDash val="solid"/>
          </a:ln>
        </p:spPr>
      </p:sp>
      <p:sp>
        <p:nvSpPr>
          <p:cNvPr id="6" name="cta-text">
            <a:extLst xmlns:a="http://schemas.openxmlformats.org/drawingml/2006/main">
              <a:ext uri="{FF2B5EF4-FFF2-40B4-BE49-F238E27FC236}">
                <a16:creationId xmlns:a16="http://schemas.microsoft.com/office/drawing/2014/main" id="{1A048E9C-9D29-47C0-A8AA-AF8137FD4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914900"/>
            <a:ext cx="1943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30F"/>
                </a:solidFill>
              </a:defRPr>
            </a:pPr>
            <a:r>
              <a:rPr sz="2100" b="1">
                <a:solidFill>
                  <a:srgbClr val="11130F"/>
                </a:solidFill>
              </a:rPr>
              <a:t>Try the</a:t>
            </a:r>
          </a:p>
          <a:p xmlns:a="http://schemas.openxmlformats.org/drawingml/2006/main">
            <a:pPr algn="l">
              <a:defRPr sz="2100" b="1">
                <a:solidFill>
                  <a:srgbClr val="11130F"/>
                </a:solidFill>
              </a:defRPr>
            </a:pPr>
            <a:r>
              <a:rPr sz="2100" b="1">
                <a:solidFill>
                  <a:srgbClr val="11130F"/>
                </a:solidFill>
              </a:rPr>
              <a:t>memory demo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AAA2C575-9C33-49C9-95D6-5C9089112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675F"/>
                </a:solidFill>
              </a:defRPr>
            </a:pPr>
            <a:r>
              <a:rPr sz="1200" b="1">
                <a:solidFill>
                  <a:srgbClr val="65675F"/>
                </a:solidFill>
              </a:rPr>
              <a:t>QORX ZERO · MEMORY THAT STAYS WITH THE WORK</a:t>
            </a:r>
          </a:p>
        </p:txBody>
      </p:sp>
      <p:sp>
        <p:nvSpPr>
          <p:cNvPr id="8" name="page">
            <a:extLst xmlns:a="http://schemas.openxmlformats.org/drawingml/2006/main">
              <a:ext uri="{FF2B5EF4-FFF2-40B4-BE49-F238E27FC236}">
                <a16:creationId xmlns:a16="http://schemas.microsoft.com/office/drawing/2014/main" id="{7FFAA4A2-10A6-40EB-93AE-30BD670DF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5675F"/>
                </a:solidFill>
              </a:defRPr>
            </a:pPr>
            <a:r>
              <a:rPr sz="1200" b="1">
                <a:solidFill>
                  <a:srgbClr val="65675F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595392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2026-07-18T21:14:59.9760000Z</dcterms:created>
  <dcterms:modified xsi:type="dcterms:W3CDTF">2026-07-18T21:14:59.9760000Z</dcterms:modified>
</coreProperties>
</file>